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0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C6ECC-3712-4366-AF0E-290EF714B91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32AB2-058B-4BEE-AB80-898C66725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8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32AB2-058B-4BEE-AB80-898C667252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0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E53E-581E-61E1-0B7E-0B0C570A9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E1056-0F0D-DBFC-0604-96BB2510F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D438E-F230-C307-ABD1-61651BAE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3A18-C7DA-2DF0-04FA-7737ABD8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8B1EF-340B-7CF8-670D-ED11A734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2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4EEE-D094-A844-40DF-96C4A7C9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E5F5-BAF0-7D87-E8AD-640269DF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18981-B6F8-7BF6-CF50-1FA0C269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92442-29AA-03D4-9699-56D4EECE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C9949-C719-60FC-FF99-DC95EA6C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8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F8BD-99CD-93DA-D80E-577CF96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0E2D8-3C44-E7EE-DF12-676825802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8C0E-F4FC-2B59-E9F6-A7F98C73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A98F-E088-CE1F-E641-C8A6DDAC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E5D38-EA8D-14CC-DDB8-67D6F458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1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AF1F-CF5F-1E18-C646-B32BA720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6206-FE01-1EAA-019C-B12B7914A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0F6E8-CCEB-E87E-A8C1-4F79A2430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08A19-FA83-A483-1387-30A29092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0D300-3ACE-1956-A927-B83D3891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9296-6D9D-8AB6-E567-019B2BA9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4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8CE5-2293-B61F-0418-3BA817FA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8509-843C-3C75-6C63-B49FD617F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5248-41FD-4C71-D780-E10404010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78D55-A8E3-37CD-0A3C-CBB25B46E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41DB2-78FF-ED4F-0C1A-B4741730A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CE957-9084-EABA-7A4F-BD3A040F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D915E1-0EC7-8EF1-2C62-B037BCD2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3CAF8-6731-7E43-6F56-9166AC33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6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ECB9-A764-B96A-7F1D-3EABD204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1CDC5-34B2-95BE-91E4-04CC280A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7533A-DD52-D60A-3825-7EEEE29E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DE412-2BF0-EEDE-57B6-87E174EB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5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C0D75-C68D-E9A2-58C1-2A442382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949C8-D290-E575-E0BC-D63E4FAB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A16C1-1A73-E36F-20BD-C9BAC893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3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84CF-68A6-DD30-340B-8F2CCD5A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276D-022F-E0F4-3160-405F016FE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CE74A-AD51-8B3D-A484-D3196D41F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CAEB4-3551-5B37-9812-BBED98F0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7AF6-68D3-6554-992C-F75F9261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8E945-D416-CAA8-9649-A5160718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3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17D1-2463-7143-D6B9-54BFB5C8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0C2C2-37AD-9F99-0175-BA93D170B4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D459D-868B-2B0B-866B-596788B64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75E07-A106-B105-76D5-AC231E7E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682BD-19E1-1800-707C-221C2698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8AA94-D45B-BDC2-3399-83DB799D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7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892E5-23F3-8340-9050-1DFC8904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9BB86-207B-6302-DF7A-69C84B05B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965EA-85F1-365D-DCFB-CA8E4D61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675AB-8556-9B78-BD52-AAA31C8E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BA85-15A8-EDD3-3451-9449C646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4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7E385-9B6E-51E7-8E51-90566AC48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E7ACE-56FF-5826-D0A8-9FBA82DAB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77763-C257-C7F6-77CF-C2480324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C21EB-6092-29A1-6BB3-20E0FF19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AEFB-62A9-B2D4-1824-D8DD9A26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54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175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DC0B0-CA03-F7E6-896E-E5D4D161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8673-845D-FF0F-B67A-9500C2C30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E4915-176A-D252-E190-A1450578C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56458-43BC-4A05-B5A9-F9F620EB8801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9350-B8B1-CFB8-CF80-E482A07AA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9EAD5-44C4-52D3-2585-FEEE3C51E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8CB6BB-5878-491C-B9DB-88595A5FA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2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BC20A31-C9E5-8847-07ED-8D7AA5C94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405233"/>
          </a:xfrm>
          <a:prstGeom prst="rect">
            <a:avLst/>
          </a:prstGeom>
        </p:spPr>
      </p:pic>
      <p:sp>
        <p:nvSpPr>
          <p:cNvPr id="15" name="Google Shape;476;p16">
            <a:extLst>
              <a:ext uri="{FF2B5EF4-FFF2-40B4-BE49-F238E27FC236}">
                <a16:creationId xmlns:a16="http://schemas.microsoft.com/office/drawing/2014/main" id="{C4FEEFE4-D82C-AD67-EB61-380ACD7B3ED5}"/>
              </a:ext>
            </a:extLst>
          </p:cNvPr>
          <p:cNvSpPr txBox="1"/>
          <p:nvPr/>
        </p:nvSpPr>
        <p:spPr>
          <a:xfrm>
            <a:off x="2212848" y="835108"/>
            <a:ext cx="7714306" cy="221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065" marR="5080" lvl="0" indent="0" algn="ctr" defTabSz="914400" rtl="0" eaLnBrk="1" fontAlgn="auto" latinLnBrk="0" hangingPunct="1">
              <a:lnSpc>
                <a:spcPct val="1115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 </a:t>
            </a: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</a:t>
            </a: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Digital Design &amp; Computer Architecture</a:t>
            </a:r>
            <a:endParaRPr kumimoji="0" lang="en-GB" sz="2800" b="1" i="0" u="none" strike="noStrike" kern="1200" cap="none" spc="-1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marL="12065" marR="5080" lvl="0" indent="0" algn="ctr" defTabSz="914400" rtl="0" eaLnBrk="1" fontAlgn="auto" latinLnBrk="0" hangingPunct="1">
              <a:lnSpc>
                <a:spcPct val="1115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none" strike="noStrike" kern="1200" cap="none" spc="-1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12065" marR="5080" lvl="0" indent="0" algn="ctr" defTabSz="914400" rtl="0" eaLnBrk="1" fontAlgn="auto" latinLnBrk="0" hangingPunct="1">
              <a:lnSpc>
                <a:spcPct val="1115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-1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Trebuchet MS"/>
                <a:ea typeface="+mn-ea"/>
                <a:cs typeface="Trebuchet MS"/>
              </a:rPr>
              <a:t>  </a:t>
            </a:r>
          </a:p>
          <a:p>
            <a:pPr marL="30480" marR="0" lvl="0" indent="0" algn="ctr" defTabSz="914400" rtl="0" eaLnBrk="1" fontAlgn="auto" latinLnBrk="0" hangingPunct="1">
              <a:lnSpc>
                <a:spcPts val="2385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-1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  <a:p>
            <a:pPr marL="30480" marR="0" lvl="0" indent="0" algn="ctr" defTabSz="914400" rtl="0" eaLnBrk="1" fontAlgn="auto" latinLnBrk="0" hangingPunct="1">
              <a:lnSpc>
                <a:spcPts val="2385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Trebuchet MS"/>
            </a:endParaRPr>
          </a:p>
        </p:txBody>
      </p:sp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AF27E295-25B8-FBAD-7E79-0F8F6C2BFD5E}"/>
              </a:ext>
            </a:extLst>
          </p:cNvPr>
          <p:cNvSpPr/>
          <p:nvPr/>
        </p:nvSpPr>
        <p:spPr>
          <a:xfrm>
            <a:off x="4672789" y="4587937"/>
            <a:ext cx="3189554" cy="76117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Group Project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Batch 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9" name="Google Shape;502;p17">
            <a:extLst>
              <a:ext uri="{FF2B5EF4-FFF2-40B4-BE49-F238E27FC236}">
                <a16:creationId xmlns:a16="http://schemas.microsoft.com/office/drawing/2014/main" id="{5569A43A-1826-749D-9A9C-38A2D822D7F5}"/>
              </a:ext>
            </a:extLst>
          </p:cNvPr>
          <p:cNvSpPr/>
          <p:nvPr/>
        </p:nvSpPr>
        <p:spPr>
          <a:xfrm>
            <a:off x="4608781" y="1564355"/>
            <a:ext cx="3189554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Presentation By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E7AF9-08E4-5B2D-9863-6C9BA67F1A81}"/>
              </a:ext>
            </a:extLst>
          </p:cNvPr>
          <p:cNvSpPr txBox="1"/>
          <p:nvPr/>
        </p:nvSpPr>
        <p:spPr>
          <a:xfrm>
            <a:off x="3039006" y="2248498"/>
            <a:ext cx="632910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2620040005 – Pranav Nair Pallikkal</a:t>
            </a:r>
          </a:p>
          <a:p>
            <a:pPr algn="ctr"/>
            <a:r>
              <a:rPr lang="en-US" sz="3200" dirty="0"/>
              <a:t>2620030289 – N Siva Sai Sarvan</a:t>
            </a:r>
          </a:p>
          <a:p>
            <a:pPr algn="ctr"/>
            <a:r>
              <a:rPr lang="en-US" sz="3200" dirty="0"/>
              <a:t>2620040032 – T Piyush Sreeniketh</a:t>
            </a:r>
          </a:p>
          <a:p>
            <a:pPr algn="ctr"/>
            <a:r>
              <a:rPr lang="en-US" sz="3200" dirty="0"/>
              <a:t>2620040039 – Naruna Nirbhay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337E9-AD75-1885-7EFD-A506D462DB88}"/>
              </a:ext>
            </a:extLst>
          </p:cNvPr>
          <p:cNvSpPr txBox="1"/>
          <p:nvPr/>
        </p:nvSpPr>
        <p:spPr>
          <a:xfrm>
            <a:off x="2636675" y="5626447"/>
            <a:ext cx="7133766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b="1" kern="0" dirty="0">
                <a:effectLst/>
              </a:rPr>
              <a:t>Design and Simulation of an Automatic Street Light Control System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8714B94-5A33-1EE1-A18A-C5F9DB167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388608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9EEC5411-A09D-EA0D-7A70-52F9FA2D5899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3FFB5-27E4-EEBF-F597-07FC3FCE2D21}"/>
              </a:ext>
            </a:extLst>
          </p:cNvPr>
          <p:cNvSpPr txBox="1"/>
          <p:nvPr/>
        </p:nvSpPr>
        <p:spPr>
          <a:xfrm>
            <a:off x="2208714" y="1409621"/>
            <a:ext cx="77370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Street lights are essential for </a:t>
            </a:r>
            <a:r>
              <a:rPr lang="en-US" sz="2400" b="1" dirty="0"/>
              <a:t>safe and efficient road illumination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Traditional street lights may remain </a:t>
            </a:r>
            <a:r>
              <a:rPr lang="en-US" sz="2400" b="1" dirty="0"/>
              <a:t>ON even during daylight</a:t>
            </a:r>
            <a:r>
              <a:rPr lang="en-US" sz="2400" dirty="0"/>
              <a:t>, causing energy wastage.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An automatic control system uses a </a:t>
            </a:r>
            <a:r>
              <a:rPr lang="en-US" sz="2400" b="1" dirty="0"/>
              <a:t>Light Dependent Resistor (LDR)</a:t>
            </a:r>
            <a:r>
              <a:rPr lang="en-US" sz="2400" dirty="0"/>
              <a:t> to detect surrounding light intensity.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The system automatically </a:t>
            </a:r>
            <a:r>
              <a:rPr lang="en-US" sz="2400" b="1" dirty="0"/>
              <a:t>turns the lights ON at night and OFF during the day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This helps in </a:t>
            </a:r>
            <a:r>
              <a:rPr lang="en-US" sz="2400" b="1" dirty="0"/>
              <a:t>saving energy, reducing human intervention, and improving efficiency</a:t>
            </a:r>
            <a:r>
              <a:rPr lang="en-US" sz="2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7330A1-F450-64AE-ECAA-A4A825EBE0DA}"/>
              </a:ext>
            </a:extLst>
          </p:cNvPr>
          <p:cNvSpPr txBox="1"/>
          <p:nvPr/>
        </p:nvSpPr>
        <p:spPr>
          <a:xfrm>
            <a:off x="5351725" y="659702"/>
            <a:ext cx="1488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Introduction</a:t>
            </a:r>
          </a:p>
        </p:txBody>
      </p:sp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04CEF255-0489-D3E7-3439-D0DB7DEA0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460904">
            <a:off x="637398" y="396922"/>
            <a:ext cx="914400" cy="914400"/>
          </a:xfrm>
          <a:prstGeom prst="rect">
            <a:avLst/>
          </a:prstGeom>
        </p:spPr>
      </p:pic>
      <p:pic>
        <p:nvPicPr>
          <p:cNvPr id="16" name="Graphic 15" descr="Back with solid fill">
            <a:extLst>
              <a:ext uri="{FF2B5EF4-FFF2-40B4-BE49-F238E27FC236}">
                <a16:creationId xmlns:a16="http://schemas.microsoft.com/office/drawing/2014/main" id="{DF970CDB-BF4F-7EE0-EA78-378BF07CC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630672">
            <a:off x="10687331" y="52906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39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585450-2F30-0F45-7CCF-EFC33E8A0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4"/>
            <a:ext cx="12207561" cy="7557633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1B45C67A-1B26-0454-7D95-EE9F4441F7E4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3F8AA-4581-CB08-7100-F227963FC57B}"/>
              </a:ext>
            </a:extLst>
          </p:cNvPr>
          <p:cNvSpPr txBox="1"/>
          <p:nvPr/>
        </p:nvSpPr>
        <p:spPr>
          <a:xfrm>
            <a:off x="4984830" y="659702"/>
            <a:ext cx="222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Problem Statement</a:t>
            </a:r>
          </a:p>
        </p:txBody>
      </p: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EEE9D371-80D4-D2EA-61D6-8CCD175A0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643870">
            <a:off x="656884" y="571834"/>
            <a:ext cx="914400" cy="914400"/>
          </a:xfrm>
          <a:prstGeom prst="rect">
            <a:avLst/>
          </a:prstGeom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5BD950DB-0631-BB2A-02DD-BF458626E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53344">
            <a:off x="10676466" y="5410200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51735D-E415-6C74-BA58-3256D77829E3}"/>
              </a:ext>
            </a:extLst>
          </p:cNvPr>
          <p:cNvSpPr txBox="1"/>
          <p:nvPr/>
        </p:nvSpPr>
        <p:spPr>
          <a:xfrm>
            <a:off x="2133600" y="1660535"/>
            <a:ext cx="772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Street lights are often </a:t>
            </a:r>
            <a:r>
              <a:rPr lang="en-US" sz="2400" b="1" dirty="0"/>
              <a:t>controlled manually</a:t>
            </a:r>
            <a:r>
              <a:rPr lang="en-US" sz="2400" dirty="0"/>
              <a:t> or using fixed schedules.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Lights may remain </a:t>
            </a:r>
            <a:r>
              <a:rPr lang="en-US" sz="2400" b="1" dirty="0"/>
              <a:t>ON during daylight hours</a:t>
            </a:r>
            <a:r>
              <a:rPr lang="en-US" sz="2400" dirty="0"/>
              <a:t>, resulting in unnecessary energy consumption.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Manual operation requires </a:t>
            </a:r>
            <a:r>
              <a:rPr lang="en-US" sz="2400" b="1" dirty="0"/>
              <a:t>human intervention</a:t>
            </a:r>
            <a:r>
              <a:rPr lang="en-US" sz="2400" dirty="0"/>
              <a:t> and regular monitoring.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Inefficient control can lead to </a:t>
            </a:r>
            <a:r>
              <a:rPr lang="en-US" sz="2400" b="1" dirty="0"/>
              <a:t>higher electricity costs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A reliable </a:t>
            </a:r>
            <a:r>
              <a:rPr lang="en-US" sz="2400" b="1" dirty="0"/>
              <a:t>automatic lighting control system</a:t>
            </a:r>
            <a:r>
              <a:rPr lang="en-US" sz="2400" dirty="0"/>
              <a:t> is needed to reduce energy wastage. </a:t>
            </a:r>
          </a:p>
        </p:txBody>
      </p:sp>
    </p:spTree>
    <p:extLst>
      <p:ext uri="{BB962C8B-B14F-4D97-AF65-F5344CB8AC3E}">
        <p14:creationId xmlns:p14="http://schemas.microsoft.com/office/powerpoint/2010/main" val="40310338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99589C6-AA76-0E0F-D3C9-64CB3C86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61" y="0"/>
            <a:ext cx="12207561" cy="7398327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CAAB79E1-4A6B-5735-33E1-07AA367D4B52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E5E13-38CF-82B4-93F0-4A0783D980AA}"/>
              </a:ext>
            </a:extLst>
          </p:cNvPr>
          <p:cNvSpPr txBox="1"/>
          <p:nvPr/>
        </p:nvSpPr>
        <p:spPr>
          <a:xfrm>
            <a:off x="5441333" y="659702"/>
            <a:ext cx="130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9B25D-86BD-F1C4-C395-EFBF6A363A95}"/>
              </a:ext>
            </a:extLst>
          </p:cNvPr>
          <p:cNvSpPr txBox="1"/>
          <p:nvPr/>
        </p:nvSpPr>
        <p:spPr>
          <a:xfrm>
            <a:off x="2408765" y="1905506"/>
            <a:ext cx="73744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b="1" dirty="0"/>
              <a:t>Automate</a:t>
            </a:r>
            <a:r>
              <a:rPr lang="en-US" sz="2400" dirty="0"/>
              <a:t> street light operation based on surrounding light intensity.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Automatically </a:t>
            </a:r>
            <a:r>
              <a:rPr lang="en-US" sz="2400" b="1" dirty="0"/>
              <a:t>turn ON</a:t>
            </a:r>
            <a:r>
              <a:rPr lang="en-US" sz="2400" dirty="0"/>
              <a:t> the lights during darkness.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Automatically </a:t>
            </a:r>
            <a:r>
              <a:rPr lang="en-US" sz="2400" b="1" dirty="0"/>
              <a:t>turn OFF</a:t>
            </a:r>
            <a:r>
              <a:rPr lang="en-US" sz="2400" dirty="0"/>
              <a:t> the lights during daylight.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b="1" dirty="0"/>
              <a:t>Reduce energy consumption</a:t>
            </a:r>
            <a:r>
              <a:rPr lang="en-US" sz="2400" dirty="0"/>
              <a:t> and avoid unnecessary usage.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Minimize </a:t>
            </a:r>
            <a:r>
              <a:rPr lang="en-US" sz="2400" b="1" dirty="0"/>
              <a:t>human intervention</a:t>
            </a:r>
            <a:r>
              <a:rPr lang="en-US" sz="2400" dirty="0"/>
              <a:t> and improve system efficiency.</a:t>
            </a:r>
          </a:p>
        </p:txBody>
      </p:sp>
      <p:pic>
        <p:nvPicPr>
          <p:cNvPr id="10" name="Graphic 9" descr="Exclamation mark with solid fill">
            <a:extLst>
              <a:ext uri="{FF2B5EF4-FFF2-40B4-BE49-F238E27FC236}">
                <a16:creationId xmlns:a16="http://schemas.microsoft.com/office/drawing/2014/main" id="{D5C79AB5-C07E-961C-ADC3-80E18C1C2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65995">
            <a:off x="10634133" y="5353676"/>
            <a:ext cx="914400" cy="914400"/>
          </a:xfrm>
          <a:prstGeom prst="rect">
            <a:avLst/>
          </a:prstGeom>
        </p:spPr>
      </p:pic>
      <p:pic>
        <p:nvPicPr>
          <p:cNvPr id="11" name="Graphic 10" descr="Exclamation mark with solid fill">
            <a:extLst>
              <a:ext uri="{FF2B5EF4-FFF2-40B4-BE49-F238E27FC236}">
                <a16:creationId xmlns:a16="http://schemas.microsoft.com/office/drawing/2014/main" id="{833E1A7C-A33D-1B39-601C-CAAD1845B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579169">
            <a:off x="999384" y="6462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924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D514851-29DE-6502-2569-535327DAA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374753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E9DC5DCD-61D2-B718-E95D-A2E758DC5086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25EA5D-5ED5-84D4-91E3-9D6AFEE0ECC9}"/>
              </a:ext>
            </a:extLst>
          </p:cNvPr>
          <p:cNvSpPr txBox="1"/>
          <p:nvPr/>
        </p:nvSpPr>
        <p:spPr>
          <a:xfrm>
            <a:off x="4975094" y="669304"/>
            <a:ext cx="210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Main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88A376-8C3B-E328-BB62-328B3317A44B}"/>
              </a:ext>
            </a:extLst>
          </p:cNvPr>
          <p:cNvSpPr txBox="1"/>
          <p:nvPr/>
        </p:nvSpPr>
        <p:spPr>
          <a:xfrm>
            <a:off x="2722033" y="1184193"/>
            <a:ext cx="6747933" cy="36933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LDR Sensor → Control Circuit → Switching Device → Street Light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A07AD-7D75-0074-7D07-2D3870CF2A21}"/>
              </a:ext>
            </a:extLst>
          </p:cNvPr>
          <p:cNvSpPr txBox="1"/>
          <p:nvPr/>
        </p:nvSpPr>
        <p:spPr>
          <a:xfrm>
            <a:off x="226482" y="2009700"/>
            <a:ext cx="56388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LDR Sensor:</a:t>
            </a:r>
            <a:r>
              <a:rPr lang="en-US" sz="2000" dirty="0"/>
              <a:t> Detects the surrounding light intensity.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Control Circuit:</a:t>
            </a:r>
            <a:r>
              <a:rPr lang="en-US" sz="2000" dirty="0"/>
              <a:t> Processes the LDR signal and decides whether the light should be ON or OFF.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Switching Device:</a:t>
            </a:r>
            <a:r>
              <a:rPr lang="en-US" sz="2000" dirty="0"/>
              <a:t> Controls the power supplied to the street light.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Street Light:</a:t>
            </a:r>
            <a:r>
              <a:rPr lang="en-US" sz="2000" dirty="0"/>
              <a:t> Automatically turns </a:t>
            </a:r>
            <a:r>
              <a:rPr lang="en-US" sz="2000" b="1" dirty="0"/>
              <a:t>ON in darkness</a:t>
            </a:r>
            <a:r>
              <a:rPr lang="en-US" sz="2000" dirty="0"/>
              <a:t> and </a:t>
            </a:r>
            <a:r>
              <a:rPr lang="en-US" sz="2000" b="1" dirty="0"/>
              <a:t>OFF in daylight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4911C-8629-2698-2040-4A9D6AD40461}"/>
              </a:ext>
            </a:extLst>
          </p:cNvPr>
          <p:cNvSpPr txBox="1"/>
          <p:nvPr/>
        </p:nvSpPr>
        <p:spPr>
          <a:xfrm>
            <a:off x="6326716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Daylight → LDR detects light → Control circuit → Light 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15719-FE56-A868-8F47-79CE4A46C467}"/>
              </a:ext>
            </a:extLst>
          </p:cNvPr>
          <p:cNvSpPr txBox="1"/>
          <p:nvPr/>
        </p:nvSpPr>
        <p:spPr>
          <a:xfrm>
            <a:off x="5865283" y="3589867"/>
            <a:ext cx="6159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Darkness → LDR detects low light → Control circuit → Light ON</a:t>
            </a:r>
          </a:p>
        </p:txBody>
      </p:sp>
      <p:pic>
        <p:nvPicPr>
          <p:cNvPr id="16" name="Graphic 15" descr="Sun with solid fill">
            <a:extLst>
              <a:ext uri="{FF2B5EF4-FFF2-40B4-BE49-F238E27FC236}">
                <a16:creationId xmlns:a16="http://schemas.microsoft.com/office/drawing/2014/main" id="{3FDD1024-F28F-C8AF-D652-4C96CBA8D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16016">
            <a:off x="810948" y="420301"/>
            <a:ext cx="914400" cy="914400"/>
          </a:xfrm>
          <a:prstGeom prst="rect">
            <a:avLst/>
          </a:prstGeom>
        </p:spPr>
      </p:pic>
      <p:pic>
        <p:nvPicPr>
          <p:cNvPr id="18" name="Graphic 17" descr="Stars with solid fill">
            <a:extLst>
              <a:ext uri="{FF2B5EF4-FFF2-40B4-BE49-F238E27FC236}">
                <a16:creationId xmlns:a16="http://schemas.microsoft.com/office/drawing/2014/main" id="{10485DEC-6B92-F56B-431E-1764B453E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25210">
            <a:off x="10878092" y="5572498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CB317A-0D74-3A9E-E67D-3016CB1309CD}"/>
              </a:ext>
            </a:extLst>
          </p:cNvPr>
          <p:cNvSpPr txBox="1"/>
          <p:nvPr/>
        </p:nvSpPr>
        <p:spPr>
          <a:xfrm>
            <a:off x="10453566" y="2863103"/>
            <a:ext cx="151195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Working Flow</a:t>
            </a:r>
          </a:p>
        </p:txBody>
      </p:sp>
    </p:spTree>
    <p:extLst>
      <p:ext uri="{BB962C8B-B14F-4D97-AF65-F5344CB8AC3E}">
        <p14:creationId xmlns:p14="http://schemas.microsoft.com/office/powerpoint/2010/main" val="9720532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/>
      <p:bldP spid="12" grpId="0"/>
      <p:bldP spid="14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A9A0349-0F29-E94F-FB2F-60C55B6A8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364593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B4F8CD3A-C13D-BE3B-8FAF-F4EF15DFA0B9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17D95-2619-0747-EF73-CFBEC613CEF4}"/>
              </a:ext>
            </a:extLst>
          </p:cNvPr>
          <p:cNvSpPr txBox="1"/>
          <p:nvPr/>
        </p:nvSpPr>
        <p:spPr>
          <a:xfrm>
            <a:off x="4307322" y="669304"/>
            <a:ext cx="344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Logic Gates Behind The System</a:t>
            </a: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BF6620D9-FF0E-CA71-DF8B-9786A5C7DF4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8254" r="7174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818" r="22818"/>
          <a:stretch>
            <a:fillRect/>
          </a:stretch>
        </p:blipFill>
        <p:spPr>
          <a:xfrm>
            <a:off x="552316" y="1334532"/>
            <a:ext cx="3755005" cy="255417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95CF31-D77D-4EDF-8576-EC27A37E8868}"/>
              </a:ext>
            </a:extLst>
          </p:cNvPr>
          <p:cNvSpPr txBox="1"/>
          <p:nvPr/>
        </p:nvSpPr>
        <p:spPr>
          <a:xfrm>
            <a:off x="562320" y="2264744"/>
            <a:ext cx="24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9F33A-52F9-DE03-E2AF-2AAF0A944325}"/>
              </a:ext>
            </a:extLst>
          </p:cNvPr>
          <p:cNvSpPr txBox="1"/>
          <p:nvPr/>
        </p:nvSpPr>
        <p:spPr>
          <a:xfrm>
            <a:off x="562320" y="2972630"/>
            <a:ext cx="24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61FE4-B814-EDB1-CE1A-CC8B5B807E2E}"/>
              </a:ext>
            </a:extLst>
          </p:cNvPr>
          <p:cNvSpPr txBox="1"/>
          <p:nvPr/>
        </p:nvSpPr>
        <p:spPr>
          <a:xfrm>
            <a:off x="1720612" y="2525010"/>
            <a:ext cx="132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Gate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60829-6B12-F783-6187-AE388D985AD0}"/>
              </a:ext>
            </a:extLst>
          </p:cNvPr>
          <p:cNvSpPr txBox="1"/>
          <p:nvPr/>
        </p:nvSpPr>
        <p:spPr>
          <a:xfrm>
            <a:off x="3940109" y="2655815"/>
            <a:ext cx="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 = A .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7BE54-6562-7A94-CC99-9AD232552A06}"/>
              </a:ext>
            </a:extLst>
          </p:cNvPr>
          <p:cNvSpPr txBox="1"/>
          <p:nvPr/>
        </p:nvSpPr>
        <p:spPr>
          <a:xfrm>
            <a:off x="1720612" y="1149866"/>
            <a:ext cx="1170513" cy="369332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AND Gate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FA0ECC-3842-5E74-A69A-DA6A65CDE5BF}"/>
              </a:ext>
            </a:extLst>
          </p:cNvPr>
          <p:cNvSpPr txBox="1"/>
          <p:nvPr/>
        </p:nvSpPr>
        <p:spPr>
          <a:xfrm>
            <a:off x="358610" y="3777352"/>
            <a:ext cx="4142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Output is 1 when both inputs are 1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2C2FC0-B7DC-180C-1A2D-1E4FA5203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199440"/>
              </p:ext>
            </p:extLst>
          </p:nvPr>
        </p:nvGraphicFramePr>
        <p:xfrm>
          <a:off x="649346" y="4640089"/>
          <a:ext cx="35364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832">
                  <a:extLst>
                    <a:ext uri="{9D8B030D-6E8A-4147-A177-3AD203B41FA5}">
                      <a16:colId xmlns:a16="http://schemas.microsoft.com/office/drawing/2014/main" val="4140020995"/>
                    </a:ext>
                  </a:extLst>
                </a:gridCol>
                <a:gridCol w="1178832">
                  <a:extLst>
                    <a:ext uri="{9D8B030D-6E8A-4147-A177-3AD203B41FA5}">
                      <a16:colId xmlns:a16="http://schemas.microsoft.com/office/drawing/2014/main" val="1477631729"/>
                    </a:ext>
                  </a:extLst>
                </a:gridCol>
                <a:gridCol w="1178832">
                  <a:extLst>
                    <a:ext uri="{9D8B030D-6E8A-4147-A177-3AD203B41FA5}">
                      <a16:colId xmlns:a16="http://schemas.microsoft.com/office/drawing/2014/main" val="1901698847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 = A .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788388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54118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740484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167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34111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1F3C7C6-65C9-EAF3-50C9-CD14969EFAD7}"/>
              </a:ext>
            </a:extLst>
          </p:cNvPr>
          <p:cNvSpPr txBox="1"/>
          <p:nvPr/>
        </p:nvSpPr>
        <p:spPr>
          <a:xfrm>
            <a:off x="1796728" y="4298956"/>
            <a:ext cx="1266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Table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1F2048-1843-1048-4633-2D92A4EF3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675" y="1773690"/>
            <a:ext cx="3755005" cy="21028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29D928-D4B2-6C2D-4D06-CC4D02B1A8B7}"/>
              </a:ext>
            </a:extLst>
          </p:cNvPr>
          <p:cNvSpPr txBox="1"/>
          <p:nvPr/>
        </p:nvSpPr>
        <p:spPr>
          <a:xfrm>
            <a:off x="9142543" y="1149866"/>
            <a:ext cx="1148199" cy="369332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 Gate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B59B4A-F513-8C03-A150-E8353C1D5B76}"/>
              </a:ext>
            </a:extLst>
          </p:cNvPr>
          <p:cNvSpPr txBox="1"/>
          <p:nvPr/>
        </p:nvSpPr>
        <p:spPr>
          <a:xfrm>
            <a:off x="9029508" y="2726610"/>
            <a:ext cx="1328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NOT Gate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CC5B98-56F4-3FD1-E3B9-66B9F0B778A1}"/>
              </a:ext>
            </a:extLst>
          </p:cNvPr>
          <p:cNvSpPr txBox="1"/>
          <p:nvPr/>
        </p:nvSpPr>
        <p:spPr>
          <a:xfrm>
            <a:off x="6350000" y="38026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Single output that performs logical negation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E579DAA-A75C-FADC-7604-8C7714D7F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6457"/>
              </p:ext>
            </p:extLst>
          </p:nvPr>
        </p:nvGraphicFramePr>
        <p:xfrm>
          <a:off x="7193146" y="4782770"/>
          <a:ext cx="4436534" cy="129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267">
                  <a:extLst>
                    <a:ext uri="{9D8B030D-6E8A-4147-A177-3AD203B41FA5}">
                      <a16:colId xmlns:a16="http://schemas.microsoft.com/office/drawing/2014/main" val="3134939306"/>
                    </a:ext>
                  </a:extLst>
                </a:gridCol>
                <a:gridCol w="2218267">
                  <a:extLst>
                    <a:ext uri="{9D8B030D-6E8A-4147-A177-3AD203B41FA5}">
                      <a16:colId xmlns:a16="http://schemas.microsoft.com/office/drawing/2014/main" val="2981143281"/>
                    </a:ext>
                  </a:extLst>
                </a:gridCol>
              </a:tblGrid>
              <a:tr h="4301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 = 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529405"/>
                  </a:ext>
                </a:extLst>
              </a:tr>
              <a:tr h="4301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206026"/>
                  </a:ext>
                </a:extLst>
              </a:tr>
              <a:tr h="4301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50848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4DEEEF3-21A5-B8C3-90A8-1565B857BBCA}"/>
              </a:ext>
            </a:extLst>
          </p:cNvPr>
          <p:cNvSpPr txBox="1"/>
          <p:nvPr/>
        </p:nvSpPr>
        <p:spPr>
          <a:xfrm>
            <a:off x="8778323" y="4413438"/>
            <a:ext cx="1266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Table</a:t>
            </a:r>
          </a:p>
        </p:txBody>
      </p:sp>
      <p:pic>
        <p:nvPicPr>
          <p:cNvPr id="28" name="Graphic 27" descr="Atom with solid fill">
            <a:extLst>
              <a:ext uri="{FF2B5EF4-FFF2-40B4-BE49-F238E27FC236}">
                <a16:creationId xmlns:a16="http://schemas.microsoft.com/office/drawing/2014/main" id="{74E6CFC2-729A-3CCB-7143-2398996CA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903153">
            <a:off x="226576" y="152556"/>
            <a:ext cx="671487" cy="671487"/>
          </a:xfrm>
          <a:prstGeom prst="rect">
            <a:avLst/>
          </a:prstGeom>
        </p:spPr>
      </p:pic>
      <p:pic>
        <p:nvPicPr>
          <p:cNvPr id="29" name="Graphic 28" descr="Atom with solid fill">
            <a:extLst>
              <a:ext uri="{FF2B5EF4-FFF2-40B4-BE49-F238E27FC236}">
                <a16:creationId xmlns:a16="http://schemas.microsoft.com/office/drawing/2014/main" id="{77A1CD27-F079-D08F-0BF6-4067D1B07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903153">
            <a:off x="11401516" y="6161729"/>
            <a:ext cx="671487" cy="67148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2A10729-2684-7AC4-74C3-CA33783E77C2}"/>
              </a:ext>
            </a:extLst>
          </p:cNvPr>
          <p:cNvSpPr txBox="1"/>
          <p:nvPr/>
        </p:nvSpPr>
        <p:spPr>
          <a:xfrm>
            <a:off x="8083716" y="268602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F6B02-15BD-F039-4995-AE6E609363F1}"/>
              </a:ext>
            </a:extLst>
          </p:cNvPr>
          <p:cNvSpPr txBox="1"/>
          <p:nvPr/>
        </p:nvSpPr>
        <p:spPr>
          <a:xfrm>
            <a:off x="11111242" y="2708568"/>
            <a:ext cx="65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/>
              <a:t>Y =</a:t>
            </a:r>
            <a:r>
              <a:rPr lang="en-US" dirty="0"/>
              <a:t>Ā</a:t>
            </a:r>
          </a:p>
        </p:txBody>
      </p:sp>
    </p:spTree>
    <p:extLst>
      <p:ext uri="{BB962C8B-B14F-4D97-AF65-F5344CB8AC3E}">
        <p14:creationId xmlns:p14="http://schemas.microsoft.com/office/powerpoint/2010/main" val="33287796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 animBg="1"/>
      <p:bldP spid="15" grpId="0"/>
      <p:bldP spid="18" grpId="0"/>
      <p:bldP spid="21" grpId="0" animBg="1"/>
      <p:bldP spid="22" grpId="0"/>
      <p:bldP spid="24" grpId="0"/>
      <p:bldP spid="26" grpId="0"/>
      <p:bldP spid="36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4C3DE27-97E7-4F3B-E14E-40A2BE63C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528" y="-8753"/>
            <a:ext cx="12207561" cy="7293473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6332267C-1938-0AC6-C502-D4214185F9EA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B5181-5F9D-F074-58B4-74FB7B7DB22F}"/>
              </a:ext>
            </a:extLst>
          </p:cNvPr>
          <p:cNvSpPr txBox="1"/>
          <p:nvPr/>
        </p:nvSpPr>
        <p:spPr>
          <a:xfrm>
            <a:off x="5363607" y="669304"/>
            <a:ext cx="1329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Simulation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CD7A51-2966-C912-5F85-4764C84E4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083123"/>
              </p:ext>
            </p:extLst>
          </p:nvPr>
        </p:nvGraphicFramePr>
        <p:xfrm>
          <a:off x="7831667" y="1291476"/>
          <a:ext cx="4080932" cy="510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233">
                  <a:extLst>
                    <a:ext uri="{9D8B030D-6E8A-4147-A177-3AD203B41FA5}">
                      <a16:colId xmlns:a16="http://schemas.microsoft.com/office/drawing/2014/main" val="2025109532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1375867317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39989919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3112672045"/>
                    </a:ext>
                  </a:extLst>
                </a:gridCol>
              </a:tblGrid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Darkness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8098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108892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788522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050092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530155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547530"/>
                  </a:ext>
                </a:extLst>
              </a:tr>
              <a:tr h="6992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855087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37882"/>
                  </a:ext>
                </a:extLst>
              </a:tr>
              <a:tr h="5502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76872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AE7E537-2FB6-2EB9-3FE5-0368AE369475}"/>
              </a:ext>
            </a:extLst>
          </p:cNvPr>
          <p:cNvSpPr txBox="1"/>
          <p:nvPr/>
        </p:nvSpPr>
        <p:spPr>
          <a:xfrm>
            <a:off x="9058513" y="837036"/>
            <a:ext cx="1627240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ECBFC9-AFB3-2300-DE62-235A477EF912}"/>
              </a:ext>
            </a:extLst>
          </p:cNvPr>
          <p:cNvGrpSpPr/>
          <p:nvPr/>
        </p:nvGrpSpPr>
        <p:grpSpPr>
          <a:xfrm>
            <a:off x="54470" y="1713236"/>
            <a:ext cx="7696200" cy="3466377"/>
            <a:chOff x="54470" y="1713236"/>
            <a:chExt cx="7696200" cy="34663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D008F5-C5B7-F663-9B03-0CF6DAFB2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10" r="6262"/>
            <a:stretch>
              <a:fillRect/>
            </a:stretch>
          </p:blipFill>
          <p:spPr>
            <a:xfrm>
              <a:off x="54470" y="1713236"/>
              <a:ext cx="7696200" cy="3466377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B76BF2C-E940-11F9-B74E-3BD9297C2AAC}"/>
                </a:ext>
              </a:extLst>
            </p:cNvPr>
            <p:cNvSpPr txBox="1"/>
            <p:nvPr/>
          </p:nvSpPr>
          <p:spPr>
            <a:xfrm>
              <a:off x="4089400" y="2463801"/>
              <a:ext cx="117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 Gate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1ADA57-CD6E-2D0C-A142-49502E680CAA}"/>
                </a:ext>
              </a:extLst>
            </p:cNvPr>
            <p:cNvSpPr txBox="1"/>
            <p:nvPr/>
          </p:nvSpPr>
          <p:spPr>
            <a:xfrm>
              <a:off x="3515300" y="4605867"/>
              <a:ext cx="11481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NOT Gate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4F9CD03-1B72-7F69-0810-C17A28B76B34}"/>
                </a:ext>
              </a:extLst>
            </p:cNvPr>
            <p:cNvCxnSpPr/>
            <p:nvPr/>
          </p:nvCxnSpPr>
          <p:spPr>
            <a:xfrm flipH="1">
              <a:off x="3848100" y="2648467"/>
              <a:ext cx="241300" cy="1201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5717FA-9A75-EBF5-4862-FB9853571D00}"/>
                </a:ext>
              </a:extLst>
            </p:cNvPr>
            <p:cNvCxnSpPr>
              <a:cxnSpLocks/>
            </p:cNvCxnSpPr>
            <p:nvPr/>
          </p:nvCxnSpPr>
          <p:spPr>
            <a:xfrm>
              <a:off x="5259913" y="2648467"/>
              <a:ext cx="135467" cy="2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BDCB13E-3706-54D0-BF38-3A5759574598}"/>
                </a:ext>
              </a:extLst>
            </p:cNvPr>
            <p:cNvCxnSpPr/>
            <p:nvPr/>
          </p:nvCxnSpPr>
          <p:spPr>
            <a:xfrm flipH="1" flipV="1">
              <a:off x="3379833" y="4368800"/>
              <a:ext cx="289500" cy="2370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Graphic 23" descr="Brain with solid fill">
            <a:extLst>
              <a:ext uri="{FF2B5EF4-FFF2-40B4-BE49-F238E27FC236}">
                <a16:creationId xmlns:a16="http://schemas.microsoft.com/office/drawing/2014/main" id="{BF1CBBC4-9106-C6F7-3DE9-F2A33D450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40171">
            <a:off x="439349" y="198786"/>
            <a:ext cx="752494" cy="75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812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721195E-13E5-3F5B-F8B7-89D0118CE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334113"/>
          </a:xfrm>
          <a:prstGeom prst="rect">
            <a:avLst/>
          </a:prstGeom>
        </p:spPr>
      </p:pic>
      <p:sp>
        <p:nvSpPr>
          <p:cNvPr id="4" name="Google Shape;502;p17">
            <a:extLst>
              <a:ext uri="{FF2B5EF4-FFF2-40B4-BE49-F238E27FC236}">
                <a16:creationId xmlns:a16="http://schemas.microsoft.com/office/drawing/2014/main" id="{42969B36-84FF-E353-80AB-942805BBBECF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272F9-10D3-CBAA-4D29-AE44D14208F0}"/>
              </a:ext>
            </a:extLst>
          </p:cNvPr>
          <p:cNvSpPr txBox="1"/>
          <p:nvPr/>
        </p:nvSpPr>
        <p:spPr>
          <a:xfrm>
            <a:off x="4676566" y="669304"/>
            <a:ext cx="270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Results And 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B37AC-0320-0035-4EAC-81883585E086}"/>
              </a:ext>
            </a:extLst>
          </p:cNvPr>
          <p:cNvSpPr txBox="1"/>
          <p:nvPr/>
        </p:nvSpPr>
        <p:spPr>
          <a:xfrm>
            <a:off x="2425151" y="1972316"/>
            <a:ext cx="12486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BD461-D593-973C-7654-823C1BD3B3B7}"/>
              </a:ext>
            </a:extLst>
          </p:cNvPr>
          <p:cNvSpPr txBox="1"/>
          <p:nvPr/>
        </p:nvSpPr>
        <p:spPr>
          <a:xfrm>
            <a:off x="0" y="248743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The system successfully detects </a:t>
            </a:r>
            <a:r>
              <a:rPr lang="en-US" sz="2400" b="1" dirty="0"/>
              <a:t>daylight and darkness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Street light turns </a:t>
            </a:r>
            <a:r>
              <a:rPr lang="en-US" sz="2400" b="1" dirty="0"/>
              <a:t>OFF during daylight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Street light turns </a:t>
            </a:r>
            <a:r>
              <a:rPr lang="en-US" sz="2400" b="1" dirty="0"/>
              <a:t>ON automatically at night</a:t>
            </a:r>
            <a:r>
              <a:rPr lang="en-US" sz="2400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Simulation confirms the </a:t>
            </a:r>
            <a:r>
              <a:rPr lang="en-US" sz="2400" b="1" dirty="0"/>
              <a:t>expected switching operation</a:t>
            </a:r>
            <a:r>
              <a:rPr lang="en-US" sz="2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ECABF-7C79-01AF-50BA-8ED6CD7A03D4}"/>
              </a:ext>
            </a:extLst>
          </p:cNvPr>
          <p:cNvSpPr txBox="1"/>
          <p:nvPr/>
        </p:nvSpPr>
        <p:spPr>
          <a:xfrm>
            <a:off x="8234858" y="1972315"/>
            <a:ext cx="181536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Advantages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2221D-6901-7B5E-98C9-80B4F2BB2B45}"/>
              </a:ext>
            </a:extLst>
          </p:cNvPr>
          <p:cNvSpPr txBox="1"/>
          <p:nvPr/>
        </p:nvSpPr>
        <p:spPr>
          <a:xfrm>
            <a:off x="5920301" y="2487430"/>
            <a:ext cx="6134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Can be implemented for </a:t>
            </a:r>
            <a:r>
              <a:rPr lang="en-US" sz="2400" b="1" dirty="0"/>
              <a:t>multiple street lights</a:t>
            </a:r>
            <a:r>
              <a:rPr lang="en-US" sz="2400" dirty="0"/>
              <a:t>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b="1" dirty="0"/>
              <a:t>Reduces energy wastage</a:t>
            </a:r>
            <a:r>
              <a:rPr lang="en-US" sz="2400" dirty="0"/>
              <a:t>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Minimizes </a:t>
            </a:r>
            <a:r>
              <a:rPr lang="en-US" sz="2400" b="1" dirty="0"/>
              <a:t>human intervention</a:t>
            </a:r>
            <a:r>
              <a:rPr lang="en-US" sz="2400" dirty="0"/>
              <a:t>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Provides </a:t>
            </a:r>
            <a:r>
              <a:rPr lang="en-US" sz="2400" b="1" dirty="0"/>
              <a:t>automatic operation</a:t>
            </a:r>
            <a:r>
              <a:rPr lang="en-US" sz="2400" dirty="0"/>
              <a:t>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sz="2400" dirty="0"/>
              <a:t>Simple and </a:t>
            </a:r>
            <a:r>
              <a:rPr lang="en-US" sz="2400" b="1" dirty="0"/>
              <a:t>cost-effective</a:t>
            </a:r>
            <a:r>
              <a:rPr lang="en-US" sz="2400" dirty="0"/>
              <a:t> system </a:t>
            </a:r>
          </a:p>
        </p:txBody>
      </p:sp>
      <p:pic>
        <p:nvPicPr>
          <p:cNvPr id="14" name="Graphic 13" descr="Internet with solid fill">
            <a:extLst>
              <a:ext uri="{FF2B5EF4-FFF2-40B4-BE49-F238E27FC236}">
                <a16:creationId xmlns:a16="http://schemas.microsoft.com/office/drawing/2014/main" id="{D3337CEC-1DCB-68B7-5C2D-4B0290828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08643">
            <a:off x="11015134" y="5240866"/>
            <a:ext cx="914400" cy="914400"/>
          </a:xfrm>
          <a:prstGeom prst="rect">
            <a:avLst/>
          </a:prstGeom>
        </p:spPr>
      </p:pic>
      <p:pic>
        <p:nvPicPr>
          <p:cNvPr id="16" name="Graphic 15" descr="Lightning bolt with solid fill">
            <a:extLst>
              <a:ext uri="{FF2B5EF4-FFF2-40B4-BE49-F238E27FC236}">
                <a16:creationId xmlns:a16="http://schemas.microsoft.com/office/drawing/2014/main" id="{BD93AACF-DB2F-8BDE-C351-E5B69E7ED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748539">
            <a:off x="564868" y="3967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551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  <p:bldP spid="10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DA5D0C0-522D-DF77-CA18-406613A3D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2629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3BAE9-B317-9BC6-23EC-772B5E5E5816}"/>
              </a:ext>
            </a:extLst>
          </p:cNvPr>
          <p:cNvSpPr txBox="1"/>
          <p:nvPr/>
        </p:nvSpPr>
        <p:spPr>
          <a:xfrm>
            <a:off x="127018" y="2383274"/>
            <a:ext cx="53763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dirty="0"/>
              <a:t>Designed an </a:t>
            </a:r>
            <a:r>
              <a:rPr lang="en-US" b="1" dirty="0"/>
              <a:t>automatic street light control system</a:t>
            </a:r>
            <a:r>
              <a:rPr lang="en-US" dirty="0"/>
              <a:t> using light intensity detection.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dirty="0"/>
              <a:t>The system automatically switches lights </a:t>
            </a:r>
            <a:r>
              <a:rPr lang="en-US" b="1" dirty="0"/>
              <a:t>ON in darkness and OFF in daylight</a:t>
            </a:r>
            <a:r>
              <a:rPr lang="en-US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dirty="0"/>
              <a:t>Simulation verifies the </a:t>
            </a:r>
            <a:r>
              <a:rPr lang="en-US" b="1" dirty="0"/>
              <a:t>correct operation of the system</a:t>
            </a:r>
            <a:r>
              <a:rPr lang="en-US" dirty="0"/>
              <a:t>. 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en-US" dirty="0"/>
              <a:t>The design helps </a:t>
            </a:r>
            <a:r>
              <a:rPr lang="en-US" b="1" dirty="0"/>
              <a:t>reduce energy wastage and manual intervention</a:t>
            </a:r>
            <a:r>
              <a:rPr lang="en-US" dirty="0"/>
              <a:t>.</a:t>
            </a:r>
          </a:p>
        </p:txBody>
      </p:sp>
      <p:sp>
        <p:nvSpPr>
          <p:cNvPr id="6" name="Google Shape;502;p17">
            <a:extLst>
              <a:ext uri="{FF2B5EF4-FFF2-40B4-BE49-F238E27FC236}">
                <a16:creationId xmlns:a16="http://schemas.microsoft.com/office/drawing/2014/main" id="{311C3091-6FB2-F8E7-7B9F-4B7A1CDDAC38}"/>
              </a:ext>
            </a:extLst>
          </p:cNvPr>
          <p:cNvSpPr/>
          <p:nvPr/>
        </p:nvSpPr>
        <p:spPr>
          <a:xfrm>
            <a:off x="3049457" y="279115"/>
            <a:ext cx="6093086" cy="380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Automatic Street Light Control System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FFE4F-1D83-D137-0362-82B61087FE88}"/>
              </a:ext>
            </a:extLst>
          </p:cNvPr>
          <p:cNvSpPr txBox="1"/>
          <p:nvPr/>
        </p:nvSpPr>
        <p:spPr>
          <a:xfrm>
            <a:off x="4385305" y="669304"/>
            <a:ext cx="3285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Conclusion And Future Scope</a:t>
            </a:r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E5908473-9D74-7498-4FB2-879F5C3C3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912347">
            <a:off x="358018" y="396770"/>
            <a:ext cx="914400" cy="914400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48176E48-0032-1B1C-2A55-DEA9E73A7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433372">
            <a:off x="10828885" y="5723466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60695A-87B8-5EF4-5F8B-5AA5EB5D9832}"/>
              </a:ext>
            </a:extLst>
          </p:cNvPr>
          <p:cNvSpPr txBox="1"/>
          <p:nvPr/>
        </p:nvSpPr>
        <p:spPr>
          <a:xfrm>
            <a:off x="2000181" y="1921609"/>
            <a:ext cx="1790876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71B9CB-B2DC-0B47-C20B-B2500CA17D63}"/>
              </a:ext>
            </a:extLst>
          </p:cNvPr>
          <p:cNvSpPr txBox="1"/>
          <p:nvPr/>
        </p:nvSpPr>
        <p:spPr>
          <a:xfrm>
            <a:off x="8334478" y="1921608"/>
            <a:ext cx="2042419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Future Scope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69159-044C-6D70-9EC2-BF226D2B3EFE}"/>
              </a:ext>
            </a:extLst>
          </p:cNvPr>
          <p:cNvSpPr txBox="1"/>
          <p:nvPr/>
        </p:nvSpPr>
        <p:spPr>
          <a:xfrm>
            <a:off x="6688669" y="2392112"/>
            <a:ext cx="49626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dirty="0"/>
              <a:t>Integrate </a:t>
            </a:r>
            <a:r>
              <a:rPr lang="en-US" b="1" dirty="0"/>
              <a:t>IoT-based monitoring and control</a:t>
            </a:r>
            <a:r>
              <a:rPr lang="en-US" dirty="0"/>
              <a:t>. 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LED lighting</a:t>
            </a:r>
            <a:r>
              <a:rPr lang="en-US" dirty="0"/>
              <a:t> for better energy efficiency. 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b="1" dirty="0"/>
              <a:t>motion sensors</a:t>
            </a:r>
            <a:r>
              <a:rPr lang="en-US" dirty="0"/>
              <a:t> to control brightness </a:t>
            </a:r>
          </a:p>
          <a:p>
            <a:pPr lvl="0" algn="ctr"/>
            <a:r>
              <a:rPr lang="en-US" dirty="0"/>
              <a:t>based on road activity. </a:t>
            </a:r>
          </a:p>
          <a:p>
            <a:pPr marL="285750" lvl="0" indent="-285750" algn="ctr">
              <a:buFont typeface="Arial" panose="020B0604020202020204" pitchFamily="34" charset="0"/>
              <a:buChar char="•"/>
            </a:pPr>
            <a:r>
              <a:rPr lang="en-US" dirty="0"/>
              <a:t>Develop a </a:t>
            </a:r>
            <a:r>
              <a:rPr lang="en-US" b="1" dirty="0"/>
              <a:t>smart city-wide lighting system</a:t>
            </a:r>
            <a:r>
              <a:rPr lang="en-US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4162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 animBg="1"/>
      <p:bldP spid="16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B7371-49A5-B3D5-355C-7B507D2E8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28" y="-8753"/>
            <a:ext cx="12207561" cy="7262993"/>
          </a:xfrm>
          <a:prstGeom prst="rect">
            <a:avLst/>
          </a:prstGeom>
        </p:spPr>
      </p:pic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FE9AC7FB-12C4-D18C-D515-15AABC1229EA}"/>
              </a:ext>
            </a:extLst>
          </p:cNvPr>
          <p:cNvSpPr/>
          <p:nvPr/>
        </p:nvSpPr>
        <p:spPr>
          <a:xfrm>
            <a:off x="4300055" y="2458860"/>
            <a:ext cx="3189554" cy="76117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Calibri"/>
                <a:cs typeface="Poppins" panose="00000500000000000000" pitchFamily="2" charset="0"/>
                <a:sym typeface="Calibri"/>
              </a:rPr>
              <a:t>Thank You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63411-5F71-9D12-A3DA-132A6DCAB597}"/>
              </a:ext>
            </a:extLst>
          </p:cNvPr>
          <p:cNvSpPr txBox="1"/>
          <p:nvPr/>
        </p:nvSpPr>
        <p:spPr>
          <a:xfrm>
            <a:off x="2529117" y="4157866"/>
            <a:ext cx="7133766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b="1" kern="0" dirty="0">
                <a:effectLst/>
              </a:rPr>
              <a:t>Design and Simulation of an Automatic Street Light Control System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9" name="Graphic 8" descr="Grinning face outline with solid fill">
            <a:extLst>
              <a:ext uri="{FF2B5EF4-FFF2-40B4-BE49-F238E27FC236}">
                <a16:creationId xmlns:a16="http://schemas.microsoft.com/office/drawing/2014/main" id="{F41E9802-58EA-839F-4581-2261444B3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82600">
            <a:off x="10663381" y="5547812"/>
            <a:ext cx="914400" cy="914400"/>
          </a:xfrm>
          <a:prstGeom prst="rect">
            <a:avLst/>
          </a:prstGeom>
        </p:spPr>
      </p:pic>
      <p:pic>
        <p:nvPicPr>
          <p:cNvPr id="11" name="Graphic 10" descr="Grinning face outline with solid fill">
            <a:extLst>
              <a:ext uri="{FF2B5EF4-FFF2-40B4-BE49-F238E27FC236}">
                <a16:creationId xmlns:a16="http://schemas.microsoft.com/office/drawing/2014/main" id="{E0CD034C-16FC-1DA8-677E-0BB756414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86762">
            <a:off x="877454" y="4087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1859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611</Words>
  <Application>Microsoft Office PowerPoint</Application>
  <PresentationFormat>Widescreen</PresentationFormat>
  <Paragraphs>147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Nair Pallikkal</dc:creator>
  <cp:lastModifiedBy>Pranav Nair Pallikkal</cp:lastModifiedBy>
  <cp:revision>1</cp:revision>
  <dcterms:created xsi:type="dcterms:W3CDTF">2026-10-08T04:53:36Z</dcterms:created>
  <dcterms:modified xsi:type="dcterms:W3CDTF">2026-10-08T06:08:02Z</dcterms:modified>
</cp:coreProperties>
</file>